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1" r:id="rId4"/>
  </p:sldMasterIdLst>
  <p:notesMasterIdLst>
    <p:notesMasterId r:id="rId6"/>
  </p:notesMasterIdLst>
  <p:sldIdLst>
    <p:sldId id="1369" r:id="rId5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Background Editável" id="{6436C235-7099-4444-ABE1-4C073B2489DB}">
          <p14:sldIdLst>
            <p14:sldId id="136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AEAEA"/>
    <a:srgbClr val="1E1E1E"/>
    <a:srgbClr val="A8A8A8"/>
    <a:srgbClr val="5FBF6A"/>
    <a:srgbClr val="00CC99"/>
    <a:srgbClr val="2A2A2A"/>
    <a:srgbClr val="383838"/>
    <a:srgbClr val="AFFF10"/>
    <a:srgbClr val="BCBD21"/>
    <a:srgbClr val="99C94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0A1B5D5-9B99-4C35-A422-299274C87663}" styleName="Estilo Médio 1 - Ênfase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F5AB1C69-6EDB-4FF4-983F-18BD219EF322}" styleName="Estilo Médio 2 - Ênfase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DF18680-E054-41AD-8BC1-D1AEF772440D}" styleName="Estilo Médio 2 - Ênfase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636" autoAdjust="0"/>
    <p:restoredTop sz="96247" autoAdjust="0"/>
  </p:normalViewPr>
  <p:slideViewPr>
    <p:cSldViewPr snapToGrid="0">
      <p:cViewPr varScale="1">
        <p:scale>
          <a:sx n="111" d="100"/>
          <a:sy n="111" d="100"/>
        </p:scale>
        <p:origin x="672" y="48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0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639B3E-7329-4DD3-B5CC-5ABED100C3FB}" type="datetimeFigureOut">
              <a:rPr lang="pt-BR" smtClean="0"/>
              <a:t>04/03/2026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06CDBEC-26F7-4535-909E-CFAF5380404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212879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6CDBEC-26F7-4535-909E-CFAF5380404A}" type="slidenum">
              <a:rPr lang="pt-BR" smtClean="0"/>
              <a:t>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973046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BFAFD7B-09D7-4A02-A347-061E229C5C1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4098E03-A5CF-46DC-B3E7-9ED11820442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4677DB0-9756-4678-90B8-EF6962125E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60ED7-156A-497F-AB7E-796633CD8448}" type="datetimeFigureOut">
              <a:rPr lang="pt-BR" smtClean="0"/>
              <a:t>04/03/2026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0C00DFE-7409-4409-9147-C69AF0DB05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14DC820-3D90-486C-BA89-60A270428C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FD6FBA-6B0F-44B3-A4B2-4E6CC4A7603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561952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E27FD6B-6037-4D86-A94A-89E557213A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8EC3938-D871-4D2C-8D2A-D9D860853D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73D2657-CADA-418B-82A4-C249E23157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60ED7-156A-497F-AB7E-796633CD8448}" type="datetimeFigureOut">
              <a:rPr lang="pt-BR" smtClean="0"/>
              <a:t>04/03/2026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DC6D8E4-6FF5-4CEA-8BE5-3BF04E89F4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4B9DCD6-2F82-4205-8B8F-251B4517B2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FD6FBA-6B0F-44B3-A4B2-4E6CC4A7603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755675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6EECEE4-8C35-4530-847A-915B12EE8E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AF8D19DA-B107-4996-81DB-BEFBF4F993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E46ECBF-0EC7-42ED-BD1B-421195E4BD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60ED7-156A-497F-AB7E-796633CD8448}" type="datetimeFigureOut">
              <a:rPr lang="pt-BR" smtClean="0"/>
              <a:t>04/03/2026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062BBE3-14D8-48C7-AAF2-F4D399F932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F5FE538-7435-415F-B132-564D0FB6B5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FD6FBA-6B0F-44B3-A4B2-4E6CC4A7603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240521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1485BA8-B6FA-412A-B7C9-82BBD5B2AA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05D44C9-70AF-4051-9DF0-EC7AE12941A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DC03BFBB-F242-4F5F-9571-D870BBCC45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36F8A165-BB46-4878-8436-DDF3B68627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60ED7-156A-497F-AB7E-796633CD8448}" type="datetimeFigureOut">
              <a:rPr lang="pt-BR" smtClean="0"/>
              <a:t>04/03/2026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61E3F5C6-7643-4760-B5B1-3445E3A076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B689E8C2-379A-4674-817F-0F4BA0D32E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FD6FBA-6B0F-44B3-A4B2-4E6CC4A7603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339335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743BD90-CA91-410F-AE84-F6B508D3F1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995327A8-0B6C-42DC-BE79-8091C34DA8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2080B1CD-E7BB-40C6-A03C-EA7FC790022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16081588-5F4E-4043-BA0B-4972E660DD9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E8E508FA-3445-452C-B6E4-E26DB9EBC33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02136D2B-8400-491A-A8E4-5239A28E5B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60ED7-156A-497F-AB7E-796633CD8448}" type="datetimeFigureOut">
              <a:rPr lang="pt-BR" smtClean="0"/>
              <a:t>04/03/2026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43DCF851-DCBA-45E9-A607-5F80B309BA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1E5C7C2F-16D2-48F8-9CFF-20BEF3D11F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FD6FBA-6B0F-44B3-A4B2-4E6CC4A7603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309154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B286D2E-FD95-4187-B101-D871BC0A39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150CC7F2-93F4-4C5B-89B0-7973BBAE6B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60ED7-156A-497F-AB7E-796633CD8448}" type="datetimeFigureOut">
              <a:rPr lang="pt-BR" smtClean="0"/>
              <a:t>04/03/2026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E5FE7DAC-34BB-4844-BACF-2B432AEFED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ADE4B298-C8CE-4A74-9377-B83254E3B4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FD6FBA-6B0F-44B3-A4B2-4E6CC4A7603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243883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DA499305-04A9-475B-B900-D4C2A7D1D6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60ED7-156A-497F-AB7E-796633CD8448}" type="datetimeFigureOut">
              <a:rPr lang="pt-BR" smtClean="0"/>
              <a:t>04/03/2026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15F1F09F-D992-41C2-B0C7-2ABD3A5690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CD1E6DE9-3635-4E0D-B16A-8B459F1FE4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FD6FBA-6B0F-44B3-A4B2-4E6CC4A7603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915206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7530356-48A0-4F3A-A678-B7C529C30E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3D6B060-3D3C-4D9C-B007-A28A9692A5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484D71DC-6108-4B2A-BCB1-FCD6258545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62317FFE-97A4-4221-946B-0755AE8292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60ED7-156A-497F-AB7E-796633CD8448}" type="datetimeFigureOut">
              <a:rPr lang="pt-BR" smtClean="0"/>
              <a:t>04/03/2026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3E32FF21-F29C-4CB8-98D9-D92A6CFE6D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B78BF04C-91E7-4108-9E0B-8BC93DE49B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FD6FBA-6B0F-44B3-A4B2-4E6CC4A7603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154147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A65C362-C15B-42B0-9C59-C7EB65AD3E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07F5627B-0662-4708-A1CB-7FA1F1CB6E4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5797A626-18B8-4181-B217-F3C4E2786E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BA381670-2C24-47D1-A4F6-D79DF308BC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60ED7-156A-497F-AB7E-796633CD8448}" type="datetimeFigureOut">
              <a:rPr lang="pt-BR" smtClean="0"/>
              <a:t>04/03/2026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D48D92ED-ABB2-4214-8482-1403A7440A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A98D4CCD-DB47-49A0-811E-93F68998EB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FD6FBA-6B0F-44B3-A4B2-4E6CC4A7603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470427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DD8CC93-278D-4E21-872E-79EE23866A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9824931D-2920-4005-81D3-A2487C18EBA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52E8788-24F2-4631-86C0-09084A9175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60ED7-156A-497F-AB7E-796633CD8448}" type="datetimeFigureOut">
              <a:rPr lang="pt-BR" smtClean="0"/>
              <a:t>04/03/2026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A4E4227-1318-403D-B36F-9D5D53F476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8610E36-1D0C-4763-A9E8-9E71B0AF7C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FD6FBA-6B0F-44B3-A4B2-4E6CC4A7603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3442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C495E51B-A666-4437-98FD-76D5012DF1C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B17456E6-76A8-4B19-9438-299368E1A6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A68A588-9E65-4FCC-964E-943A430A68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60ED7-156A-497F-AB7E-796633CD8448}" type="datetimeFigureOut">
              <a:rPr lang="pt-BR" smtClean="0"/>
              <a:t>04/03/2026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3BC28B2-7CBB-4E9C-8091-4F0340D700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2139213-397A-4B13-8835-E3C93FE7A6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FD6FBA-6B0F-44B3-A4B2-4E6CC4A7603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231363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99C7DE86-FD90-4D89-BBC6-16255EDFAC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CB27C86F-54FC-4CD7-BCCC-FB60963D3D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5AC4A3A-7953-45F7-95F1-157F9FC1FC0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A60ED7-156A-497F-AB7E-796633CD8448}" type="datetimeFigureOut">
              <a:rPr lang="pt-BR" smtClean="0"/>
              <a:t>04/03/2026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AB513F2-7B8F-4A34-96EE-843FA2AD24B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2D8C772-5C9C-4EB0-854C-24C4302C04D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5FD6FBA-6B0F-44B3-A4B2-4E6CC4A7603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632778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  <p:sldLayoutId id="2147483673" r:id="rId2"/>
    <p:sldLayoutId id="2147483674" r:id="rId3"/>
    <p:sldLayoutId id="2147483675" r:id="rId4"/>
    <p:sldLayoutId id="2147483676" r:id="rId5"/>
    <p:sldLayoutId id="2147483677" r:id="rId6"/>
    <p:sldLayoutId id="2147483678" r:id="rId7"/>
    <p:sldLayoutId id="2147483679" r:id="rId8"/>
    <p:sldLayoutId id="2147483680" r:id="rId9"/>
    <p:sldLayoutId id="2147483681" r:id="rId10"/>
    <p:sldLayoutId id="2147483682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microsoft.com/office/2007/relationships/hdphoto" Target="../media/hdphoto1.wd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tângulo: Cantos Arredondados 15">
            <a:extLst>
              <a:ext uri="{FF2B5EF4-FFF2-40B4-BE49-F238E27FC236}">
                <a16:creationId xmlns:a16="http://schemas.microsoft.com/office/drawing/2014/main" id="{0049CE6B-B5FC-9D4C-B3E7-0210ACDF94D1}"/>
              </a:ext>
            </a:extLst>
          </p:cNvPr>
          <p:cNvSpPr/>
          <p:nvPr/>
        </p:nvSpPr>
        <p:spPr>
          <a:xfrm flipV="1">
            <a:off x="187" y="0"/>
            <a:ext cx="12191813" cy="6858000"/>
          </a:xfrm>
          <a:prstGeom prst="roundRect">
            <a:avLst>
              <a:gd name="adj" fmla="val 2759"/>
            </a:avLst>
          </a:prstGeom>
          <a:solidFill>
            <a:srgbClr val="1E1E1E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highlight>
                <a:srgbClr val="00FF00"/>
              </a:highligh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E397EB26-63BA-2D35-A825-AEACE2841FE7}"/>
              </a:ext>
            </a:extLst>
          </p:cNvPr>
          <p:cNvSpPr txBox="1"/>
          <p:nvPr/>
        </p:nvSpPr>
        <p:spPr>
          <a:xfrm>
            <a:off x="660519" y="307942"/>
            <a:ext cx="316850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600" b="1" i="0" u="none" strike="noStrike" kern="1200" cap="none" spc="0" normalizeH="0" baseline="0" noProof="0" dirty="0">
                <a:ln>
                  <a:noFill/>
                </a:ln>
                <a:solidFill>
                  <a:srgbClr val="EAEAEA"/>
                </a:solidFill>
                <a:effectLst/>
                <a:uLnTx/>
                <a:uFillTx/>
                <a:latin typeface="Satoshi" pitchFamily="50" charset="0"/>
                <a:cs typeface="Segoe UI" panose="020B0502040204020203" pitchFamily="34" charset="0"/>
              </a:rPr>
              <a:t>Dashboard Financeiro</a:t>
            </a:r>
          </a:p>
        </p:txBody>
      </p:sp>
      <p:sp>
        <p:nvSpPr>
          <p:cNvPr id="21" name="Retângulo: Cantos Arredondados 20">
            <a:extLst>
              <a:ext uri="{FF2B5EF4-FFF2-40B4-BE49-F238E27FC236}">
                <a16:creationId xmlns:a16="http://schemas.microsoft.com/office/drawing/2014/main" id="{8C17007E-291D-50A7-8117-21D249C8F04D}"/>
              </a:ext>
            </a:extLst>
          </p:cNvPr>
          <p:cNvSpPr/>
          <p:nvPr/>
        </p:nvSpPr>
        <p:spPr>
          <a:xfrm>
            <a:off x="7968373" y="223541"/>
            <a:ext cx="1915670" cy="791448"/>
          </a:xfrm>
          <a:prstGeom prst="roundRect">
            <a:avLst>
              <a:gd name="adj" fmla="val 10940"/>
            </a:avLst>
          </a:prstGeom>
          <a:solidFill>
            <a:srgbClr val="383838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9" name="Retângulo: Cantos Arredondados 38">
            <a:extLst>
              <a:ext uri="{FF2B5EF4-FFF2-40B4-BE49-F238E27FC236}">
                <a16:creationId xmlns:a16="http://schemas.microsoft.com/office/drawing/2014/main" id="{2D86B097-76E0-8EB2-EBAA-35B5EC5C56F5}"/>
              </a:ext>
            </a:extLst>
          </p:cNvPr>
          <p:cNvSpPr/>
          <p:nvPr/>
        </p:nvSpPr>
        <p:spPr>
          <a:xfrm>
            <a:off x="8083251" y="364937"/>
            <a:ext cx="490556" cy="497057"/>
          </a:xfrm>
          <a:prstGeom prst="roundRect">
            <a:avLst>
              <a:gd name="adj" fmla="val 14259"/>
            </a:avLst>
          </a:prstGeom>
          <a:solidFill>
            <a:srgbClr val="5FBF6A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99" name="Retângulo: Cantos Arredondados 98">
            <a:extLst>
              <a:ext uri="{FF2B5EF4-FFF2-40B4-BE49-F238E27FC236}">
                <a16:creationId xmlns:a16="http://schemas.microsoft.com/office/drawing/2014/main" id="{66BDAEAE-C43C-8F71-BF47-B4650689C779}"/>
              </a:ext>
            </a:extLst>
          </p:cNvPr>
          <p:cNvSpPr/>
          <p:nvPr/>
        </p:nvSpPr>
        <p:spPr>
          <a:xfrm>
            <a:off x="5872920" y="233568"/>
            <a:ext cx="1915670" cy="791448"/>
          </a:xfrm>
          <a:prstGeom prst="roundRect">
            <a:avLst>
              <a:gd name="adj" fmla="val 10940"/>
            </a:avLst>
          </a:prstGeom>
          <a:solidFill>
            <a:srgbClr val="383838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0" name="Retângulo: Cantos Arredondados 99">
            <a:extLst>
              <a:ext uri="{FF2B5EF4-FFF2-40B4-BE49-F238E27FC236}">
                <a16:creationId xmlns:a16="http://schemas.microsoft.com/office/drawing/2014/main" id="{6BA03169-FD09-66F0-3E55-EF0B5CC86305}"/>
              </a:ext>
            </a:extLst>
          </p:cNvPr>
          <p:cNvSpPr/>
          <p:nvPr/>
        </p:nvSpPr>
        <p:spPr>
          <a:xfrm>
            <a:off x="5988062" y="374964"/>
            <a:ext cx="490556" cy="497057"/>
          </a:xfrm>
          <a:prstGeom prst="roundRect">
            <a:avLst>
              <a:gd name="adj" fmla="val 14259"/>
            </a:avLst>
          </a:prstGeom>
          <a:solidFill>
            <a:srgbClr val="5FBF6A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7" name="Retângulo: Cantos Arredondados 16">
            <a:extLst>
              <a:ext uri="{FF2B5EF4-FFF2-40B4-BE49-F238E27FC236}">
                <a16:creationId xmlns:a16="http://schemas.microsoft.com/office/drawing/2014/main" id="{17EB63AD-B9ED-0218-547F-581D28E01822}"/>
              </a:ext>
            </a:extLst>
          </p:cNvPr>
          <p:cNvSpPr/>
          <p:nvPr/>
        </p:nvSpPr>
        <p:spPr>
          <a:xfrm>
            <a:off x="201582" y="1402911"/>
            <a:ext cx="7128229" cy="2327536"/>
          </a:xfrm>
          <a:prstGeom prst="roundRect">
            <a:avLst>
              <a:gd name="adj" fmla="val 4924"/>
            </a:avLst>
          </a:prstGeom>
          <a:solidFill>
            <a:srgbClr val="383838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pt-BR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8" name="Retângulo: Cantos Arredondados 17">
            <a:extLst>
              <a:ext uri="{FF2B5EF4-FFF2-40B4-BE49-F238E27FC236}">
                <a16:creationId xmlns:a16="http://schemas.microsoft.com/office/drawing/2014/main" id="{CBB1D0B5-F667-9B13-637E-CAAD5FD3CFCC}"/>
              </a:ext>
            </a:extLst>
          </p:cNvPr>
          <p:cNvSpPr/>
          <p:nvPr/>
        </p:nvSpPr>
        <p:spPr>
          <a:xfrm>
            <a:off x="7531206" y="1393286"/>
            <a:ext cx="4449283" cy="2332861"/>
          </a:xfrm>
          <a:prstGeom prst="roundRect">
            <a:avLst>
              <a:gd name="adj" fmla="val 3327"/>
            </a:avLst>
          </a:prstGeom>
          <a:solidFill>
            <a:srgbClr val="383838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Retângulo: Cantos Arredondados 19">
            <a:extLst>
              <a:ext uri="{FF2B5EF4-FFF2-40B4-BE49-F238E27FC236}">
                <a16:creationId xmlns:a16="http://schemas.microsoft.com/office/drawing/2014/main" id="{158A8288-9D9B-F2B7-273E-D3D01DE9A4F1}"/>
              </a:ext>
            </a:extLst>
          </p:cNvPr>
          <p:cNvSpPr/>
          <p:nvPr/>
        </p:nvSpPr>
        <p:spPr>
          <a:xfrm>
            <a:off x="3955578" y="3919823"/>
            <a:ext cx="8041188" cy="2744501"/>
          </a:xfrm>
          <a:prstGeom prst="roundRect">
            <a:avLst>
              <a:gd name="adj" fmla="val 4605"/>
            </a:avLst>
          </a:prstGeom>
          <a:solidFill>
            <a:srgbClr val="383838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pt-BR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2" name="Retângulo: Cantos Arredondados 21">
            <a:extLst>
              <a:ext uri="{FF2B5EF4-FFF2-40B4-BE49-F238E27FC236}">
                <a16:creationId xmlns:a16="http://schemas.microsoft.com/office/drawing/2014/main" id="{838D9F6B-3DDE-B139-3B75-8D67499AF51A}"/>
              </a:ext>
            </a:extLst>
          </p:cNvPr>
          <p:cNvSpPr/>
          <p:nvPr/>
        </p:nvSpPr>
        <p:spPr>
          <a:xfrm>
            <a:off x="201583" y="3919824"/>
            <a:ext cx="3576237" cy="2744501"/>
          </a:xfrm>
          <a:prstGeom prst="roundRect">
            <a:avLst>
              <a:gd name="adj" fmla="val 5279"/>
            </a:avLst>
          </a:prstGeom>
          <a:solidFill>
            <a:srgbClr val="383838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pt-BR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CB34EB7A-58B8-7DDA-1932-1B02C67042BA}"/>
              </a:ext>
            </a:extLst>
          </p:cNvPr>
          <p:cNvSpPr txBox="1"/>
          <p:nvPr/>
        </p:nvSpPr>
        <p:spPr>
          <a:xfrm>
            <a:off x="660519" y="626899"/>
            <a:ext cx="437994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100" b="1" i="0" u="none" strike="noStrike" kern="1200" cap="none" spc="0" normalizeH="0" baseline="0" noProof="0" dirty="0">
                <a:ln>
                  <a:noFill/>
                </a:ln>
                <a:solidFill>
                  <a:srgbClr val="A8A8A8"/>
                </a:solidFill>
                <a:effectLst/>
                <a:uLnTx/>
                <a:uFillTx/>
                <a:latin typeface="Satoshi" pitchFamily="50" charset="0"/>
                <a:cs typeface="Segoe UI" panose="020B0502040204020203" pitchFamily="34" charset="0"/>
              </a:rPr>
              <a:t>Gestão da Carteira de Ativos</a:t>
            </a:r>
          </a:p>
        </p:txBody>
      </p:sp>
      <p:cxnSp>
        <p:nvCxnSpPr>
          <p:cNvPr id="6" name="Conector reto 5">
            <a:extLst>
              <a:ext uri="{FF2B5EF4-FFF2-40B4-BE49-F238E27FC236}">
                <a16:creationId xmlns:a16="http://schemas.microsoft.com/office/drawing/2014/main" id="{45F2D22F-2DB0-4279-0A6A-1917C4CD356B}"/>
              </a:ext>
            </a:extLst>
          </p:cNvPr>
          <p:cNvCxnSpPr>
            <a:cxnSpLocks/>
          </p:cNvCxnSpPr>
          <p:nvPr/>
        </p:nvCxnSpPr>
        <p:spPr>
          <a:xfrm flipV="1">
            <a:off x="0" y="1269769"/>
            <a:ext cx="12192000" cy="27146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8" name="Picture 4">
            <a:extLst>
              <a:ext uri="{FF2B5EF4-FFF2-40B4-BE49-F238E27FC236}">
                <a16:creationId xmlns:a16="http://schemas.microsoft.com/office/drawing/2014/main" id="{679C8E27-770E-291C-F0B3-2DEB72F17E7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lum bright="70000" contrast="-70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Photocopy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5000" t="26000" r="75333" b="21999"/>
          <a:stretch/>
        </p:blipFill>
        <p:spPr bwMode="auto">
          <a:xfrm>
            <a:off x="165113" y="302644"/>
            <a:ext cx="495406" cy="6549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A237D02A-9D36-42C0-80DE-4AAE713CAEE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61654" y="457475"/>
            <a:ext cx="348480" cy="348480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55EE43B7-0771-48A6-ADF2-5CCB5502816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flipH="1">
            <a:off x="8158375" y="455676"/>
            <a:ext cx="349976" cy="348480"/>
          </a:xfrm>
          <a:prstGeom prst="rect">
            <a:avLst/>
          </a:prstGeom>
        </p:spPr>
      </p:pic>
      <p:sp>
        <p:nvSpPr>
          <p:cNvPr id="9" name="CaixaDeTexto 8">
            <a:extLst>
              <a:ext uri="{FF2B5EF4-FFF2-40B4-BE49-F238E27FC236}">
                <a16:creationId xmlns:a16="http://schemas.microsoft.com/office/drawing/2014/main" id="{85AA920C-0135-4A40-A78C-5EA449A66AE5}"/>
              </a:ext>
            </a:extLst>
          </p:cNvPr>
          <p:cNvSpPr txBox="1"/>
          <p:nvPr/>
        </p:nvSpPr>
        <p:spPr>
          <a:xfrm>
            <a:off x="6836540" y="233568"/>
            <a:ext cx="59412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100" b="1" dirty="0">
                <a:solidFill>
                  <a:schemeClr val="bg1"/>
                </a:solidFill>
                <a:latin typeface="Satoshi"/>
              </a:rPr>
              <a:t>Aporte </a:t>
            </a:r>
          </a:p>
        </p:txBody>
      </p:sp>
      <p:sp>
        <p:nvSpPr>
          <p:cNvPr id="36" name="CaixaDeTexto 35">
            <a:extLst>
              <a:ext uri="{FF2B5EF4-FFF2-40B4-BE49-F238E27FC236}">
                <a16:creationId xmlns:a16="http://schemas.microsoft.com/office/drawing/2014/main" id="{D5519090-D60E-4D78-A0CD-05ADE097203C}"/>
              </a:ext>
            </a:extLst>
          </p:cNvPr>
          <p:cNvSpPr txBox="1"/>
          <p:nvPr/>
        </p:nvSpPr>
        <p:spPr>
          <a:xfrm>
            <a:off x="8758849" y="215634"/>
            <a:ext cx="83827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100" b="1" dirty="0">
                <a:solidFill>
                  <a:schemeClr val="bg1"/>
                </a:solidFill>
                <a:latin typeface="Satoshi"/>
              </a:rPr>
              <a:t>Dividendos</a:t>
            </a:r>
          </a:p>
        </p:txBody>
      </p:sp>
      <p:sp>
        <p:nvSpPr>
          <p:cNvPr id="41" name="CaixaDeTexto 40">
            <a:extLst>
              <a:ext uri="{FF2B5EF4-FFF2-40B4-BE49-F238E27FC236}">
                <a16:creationId xmlns:a16="http://schemas.microsoft.com/office/drawing/2014/main" id="{284BD696-AFDE-4AB3-95F9-1A0BE2A74C88}"/>
              </a:ext>
            </a:extLst>
          </p:cNvPr>
          <p:cNvSpPr txBox="1"/>
          <p:nvPr/>
        </p:nvSpPr>
        <p:spPr>
          <a:xfrm>
            <a:off x="201582" y="1375807"/>
            <a:ext cx="164318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100" b="1" dirty="0">
                <a:solidFill>
                  <a:schemeClr val="bg1"/>
                </a:solidFill>
                <a:latin typeface="Satoshi"/>
              </a:rPr>
              <a:t>Evolução de Dividendos</a:t>
            </a:r>
          </a:p>
        </p:txBody>
      </p:sp>
      <p:sp>
        <p:nvSpPr>
          <p:cNvPr id="42" name="Retângulo: Cantos Arredondados 41">
            <a:extLst>
              <a:ext uri="{FF2B5EF4-FFF2-40B4-BE49-F238E27FC236}">
                <a16:creationId xmlns:a16="http://schemas.microsoft.com/office/drawing/2014/main" id="{05FED01C-3E7C-48D9-8610-44E24A11B598}"/>
              </a:ext>
            </a:extLst>
          </p:cNvPr>
          <p:cNvSpPr>
            <a:spLocks/>
          </p:cNvSpPr>
          <p:nvPr/>
        </p:nvSpPr>
        <p:spPr>
          <a:xfrm>
            <a:off x="3787168" y="230203"/>
            <a:ext cx="1915670" cy="791448"/>
          </a:xfrm>
          <a:prstGeom prst="roundRect">
            <a:avLst>
              <a:gd name="adj" fmla="val 10940"/>
            </a:avLst>
          </a:prstGeom>
          <a:solidFill>
            <a:srgbClr val="383838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3" name="Retângulo: Cantos Arredondados 42">
            <a:extLst>
              <a:ext uri="{FF2B5EF4-FFF2-40B4-BE49-F238E27FC236}">
                <a16:creationId xmlns:a16="http://schemas.microsoft.com/office/drawing/2014/main" id="{334998BA-351B-4BAB-947F-DF4972AD9991}"/>
              </a:ext>
            </a:extLst>
          </p:cNvPr>
          <p:cNvSpPr>
            <a:spLocks/>
          </p:cNvSpPr>
          <p:nvPr/>
        </p:nvSpPr>
        <p:spPr>
          <a:xfrm>
            <a:off x="3955577" y="372571"/>
            <a:ext cx="490556" cy="497057"/>
          </a:xfrm>
          <a:prstGeom prst="roundRect">
            <a:avLst>
              <a:gd name="adj" fmla="val 14259"/>
            </a:avLst>
          </a:prstGeom>
          <a:solidFill>
            <a:srgbClr val="5FBF6A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44" name="CaixaDeTexto 43">
            <a:extLst>
              <a:ext uri="{FF2B5EF4-FFF2-40B4-BE49-F238E27FC236}">
                <a16:creationId xmlns:a16="http://schemas.microsoft.com/office/drawing/2014/main" id="{1E3F6D35-DB6C-4B85-9ADD-C8115EADC832}"/>
              </a:ext>
            </a:extLst>
          </p:cNvPr>
          <p:cNvSpPr txBox="1"/>
          <p:nvPr/>
        </p:nvSpPr>
        <p:spPr>
          <a:xfrm>
            <a:off x="4630543" y="233568"/>
            <a:ext cx="90475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100" b="1" dirty="0">
                <a:solidFill>
                  <a:schemeClr val="bg1"/>
                </a:solidFill>
                <a:latin typeface="Satoshi"/>
              </a:rPr>
              <a:t>Patrimônio</a:t>
            </a:r>
          </a:p>
        </p:txBody>
      </p:sp>
      <p:pic>
        <p:nvPicPr>
          <p:cNvPr id="13" name="Imagem 12">
            <a:extLst>
              <a:ext uri="{FF2B5EF4-FFF2-40B4-BE49-F238E27FC236}">
                <a16:creationId xmlns:a16="http://schemas.microsoft.com/office/drawing/2014/main" id="{20B617C7-C649-4E79-9E0A-11DAA67A2E5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024964" y="455953"/>
            <a:ext cx="304526" cy="350002"/>
          </a:xfrm>
          <a:prstGeom prst="rect">
            <a:avLst/>
          </a:prstGeom>
        </p:spPr>
      </p:pic>
      <p:sp>
        <p:nvSpPr>
          <p:cNvPr id="46" name="Retângulo: Cantos Arredondados 45">
            <a:extLst>
              <a:ext uri="{FF2B5EF4-FFF2-40B4-BE49-F238E27FC236}">
                <a16:creationId xmlns:a16="http://schemas.microsoft.com/office/drawing/2014/main" id="{6429DB31-F275-4E22-BF79-1C676B199642}"/>
              </a:ext>
            </a:extLst>
          </p:cNvPr>
          <p:cNvSpPr/>
          <p:nvPr/>
        </p:nvSpPr>
        <p:spPr>
          <a:xfrm>
            <a:off x="10063826" y="220578"/>
            <a:ext cx="1915670" cy="791447"/>
          </a:xfrm>
          <a:prstGeom prst="roundRect">
            <a:avLst>
              <a:gd name="adj" fmla="val 10940"/>
            </a:avLst>
          </a:prstGeom>
          <a:solidFill>
            <a:srgbClr val="383838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7" name="CaixaDeTexto 36">
            <a:extLst>
              <a:ext uri="{FF2B5EF4-FFF2-40B4-BE49-F238E27FC236}">
                <a16:creationId xmlns:a16="http://schemas.microsoft.com/office/drawing/2014/main" id="{1D98CC9C-CADB-495B-B3D1-304D270B691F}"/>
              </a:ext>
            </a:extLst>
          </p:cNvPr>
          <p:cNvSpPr txBox="1"/>
          <p:nvPr/>
        </p:nvSpPr>
        <p:spPr>
          <a:xfrm>
            <a:off x="10748712" y="217244"/>
            <a:ext cx="57861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100" b="1" dirty="0">
                <a:solidFill>
                  <a:schemeClr val="bg1"/>
                </a:solidFill>
                <a:latin typeface="Satoshi"/>
              </a:rPr>
              <a:t>Ativo</a:t>
            </a:r>
          </a:p>
        </p:txBody>
      </p:sp>
      <p:sp>
        <p:nvSpPr>
          <p:cNvPr id="38" name="CaixaDeTexto 37">
            <a:extLst>
              <a:ext uri="{FF2B5EF4-FFF2-40B4-BE49-F238E27FC236}">
                <a16:creationId xmlns:a16="http://schemas.microsoft.com/office/drawing/2014/main" id="{60C1463B-DA12-4FC1-A8CA-953FDDE60A6E}"/>
              </a:ext>
            </a:extLst>
          </p:cNvPr>
          <p:cNvSpPr txBox="1"/>
          <p:nvPr/>
        </p:nvSpPr>
        <p:spPr>
          <a:xfrm>
            <a:off x="3997276" y="3908783"/>
            <a:ext cx="187564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100" b="1" dirty="0">
                <a:solidFill>
                  <a:schemeClr val="bg1"/>
                </a:solidFill>
                <a:latin typeface="Satoshi"/>
              </a:rPr>
              <a:t>Distribuição por Ativo</a:t>
            </a:r>
          </a:p>
        </p:txBody>
      </p:sp>
      <p:sp>
        <p:nvSpPr>
          <p:cNvPr id="40" name="CaixaDeTexto 39">
            <a:extLst>
              <a:ext uri="{FF2B5EF4-FFF2-40B4-BE49-F238E27FC236}">
                <a16:creationId xmlns:a16="http://schemas.microsoft.com/office/drawing/2014/main" id="{25D1810E-3C45-4A80-A083-7313DE08BFC4}"/>
              </a:ext>
            </a:extLst>
          </p:cNvPr>
          <p:cNvSpPr txBox="1"/>
          <p:nvPr/>
        </p:nvSpPr>
        <p:spPr>
          <a:xfrm>
            <a:off x="195234" y="3908783"/>
            <a:ext cx="164318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100" b="1" dirty="0">
                <a:solidFill>
                  <a:schemeClr val="bg1"/>
                </a:solidFill>
                <a:latin typeface="Satoshi"/>
              </a:rPr>
              <a:t>Diversificação FII </a:t>
            </a:r>
            <a:r>
              <a:rPr lang="pt-BR" sz="1100" b="1" dirty="0" err="1">
                <a:solidFill>
                  <a:schemeClr val="bg1"/>
                </a:solidFill>
                <a:latin typeface="Satoshi"/>
              </a:rPr>
              <a:t>vs</a:t>
            </a:r>
            <a:r>
              <a:rPr lang="pt-BR" sz="1100" b="1" dirty="0">
                <a:solidFill>
                  <a:schemeClr val="bg1"/>
                </a:solidFill>
                <a:latin typeface="Satoshi"/>
              </a:rPr>
              <a:t> Ação </a:t>
            </a:r>
          </a:p>
        </p:txBody>
      </p:sp>
      <p:sp>
        <p:nvSpPr>
          <p:cNvPr id="45" name="CaixaDeTexto 44">
            <a:extLst>
              <a:ext uri="{FF2B5EF4-FFF2-40B4-BE49-F238E27FC236}">
                <a16:creationId xmlns:a16="http://schemas.microsoft.com/office/drawing/2014/main" id="{5EA24252-79DC-4DC4-9947-6C1E6800EB70}"/>
              </a:ext>
            </a:extLst>
          </p:cNvPr>
          <p:cNvSpPr txBox="1"/>
          <p:nvPr/>
        </p:nvSpPr>
        <p:spPr>
          <a:xfrm>
            <a:off x="7504023" y="1368530"/>
            <a:ext cx="139583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100" b="1" dirty="0">
                <a:solidFill>
                  <a:schemeClr val="bg1"/>
                </a:solidFill>
                <a:latin typeface="Satoshi"/>
              </a:rPr>
              <a:t>Alocação por Setor</a:t>
            </a:r>
          </a:p>
        </p:txBody>
      </p:sp>
    </p:spTree>
    <p:extLst>
      <p:ext uri="{BB962C8B-B14F-4D97-AF65-F5344CB8AC3E}">
        <p14:creationId xmlns:p14="http://schemas.microsoft.com/office/powerpoint/2010/main" val="780230170"/>
      </p:ext>
    </p:extLst>
  </p:cSld>
  <p:clrMapOvr>
    <a:masterClrMapping/>
  </p:clrMapOvr>
</p:sld>
</file>

<file path=ppt/theme/theme1.xml><?xml version="1.0" encoding="utf-8"?>
<a:theme xmlns:a="http://schemas.openxmlformats.org/drawingml/2006/main" name="12_Tema do Office">
  <a:themeElements>
    <a:clrScheme name="Personalizada 9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1F4A99"/>
      </a:accent1>
      <a:accent2>
        <a:srgbClr val="0ECC88"/>
      </a:accent2>
      <a:accent3>
        <a:srgbClr val="CC0E53"/>
      </a:accent3>
      <a:accent4>
        <a:srgbClr val="F1963A"/>
      </a:accent4>
      <a:accent5>
        <a:srgbClr val="F06549"/>
      </a:accent5>
      <a:accent6>
        <a:srgbClr val="1E32C8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df20de4e-4892-4869-a652-a7c915abf32f" xsi:nil="true"/>
    <lcf76f155ced4ddcb4097134ff3c332f xmlns="27abfcf4-a53b-45ec-9541-9b00a41a0f09">
      <Terms xmlns="http://schemas.microsoft.com/office/infopath/2007/PartnerControls"/>
    </lcf76f155ced4ddcb4097134ff3c332f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4C36BFA3F7CA2244925E07107AC027F4" ma:contentTypeVersion="14" ma:contentTypeDescription="Crie um novo documento." ma:contentTypeScope="" ma:versionID="f1dad3fd801066effaaa78d394a00547">
  <xsd:schema xmlns:xsd="http://www.w3.org/2001/XMLSchema" xmlns:xs="http://www.w3.org/2001/XMLSchema" xmlns:p="http://schemas.microsoft.com/office/2006/metadata/properties" xmlns:ns2="27abfcf4-a53b-45ec-9541-9b00a41a0f09" xmlns:ns3="df20de4e-4892-4869-a652-a7c915abf32f" targetNamespace="http://schemas.microsoft.com/office/2006/metadata/properties" ma:root="true" ma:fieldsID="cab3a69541c8979052db647cfac11b15" ns2:_="" ns3:_="">
    <xsd:import namespace="27abfcf4-a53b-45ec-9541-9b00a41a0f09"/>
    <xsd:import namespace="df20de4e-4892-4869-a652-a7c915abf32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Location" minOccurs="0"/>
                <xsd:element ref="ns3:SharedWithUsers" minOccurs="0"/>
                <xsd:element ref="ns3:SharedWithDetails" minOccurs="0"/>
                <xsd:element ref="ns2:MediaLengthInSecond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7abfcf4-a53b-45ec-9541-9b00a41a0f0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" ma:index="11" nillable="true" ma:taxonomy="true" ma:internalName="lcf76f155ced4ddcb4097134ff3c332f" ma:taxonomyFieldName="MediaServiceImageTags" ma:displayName="Marcações de imagem" ma:readOnly="false" ma:fieldId="{5cf76f15-5ced-4ddc-b409-7134ff3c332f}" ma:taxonomyMulti="true" ma:sspId="bdd6607b-17a9-4d68-980a-d0ce8eb27d9c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6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Location" ma:index="17" nillable="true" ma:displayName="Location" ma:indexed="true" ma:internalName="MediaServiceLocation" ma:readOnly="true">
      <xsd:simpleType>
        <xsd:restriction base="dms:Text"/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2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f20de4e-4892-4869-a652-a7c915abf32f" elementFormDefault="qualified">
    <xsd:import namespace="http://schemas.microsoft.com/office/2006/documentManagement/types"/>
    <xsd:import namespace="http://schemas.microsoft.com/office/infopath/2007/PartnerControls"/>
    <xsd:element name="TaxCatchAll" ma:index="12" nillable="true" ma:displayName="Taxonomy Catch All Column" ma:hidden="true" ma:list="{82878446-74c9-4094-890e-e361259db24f}" ma:internalName="TaxCatchAll" ma:showField="CatchAllData" ma:web="df20de4e-4892-4869-a652-a7c915abf32f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8" nillable="true" ma:displayName="Compartilhado com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Detalhes de Compartilhado Com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31496E05-1B64-433E-86C9-DF3AC8B43A50}">
  <ds:schemaRefs>
    <ds:schemaRef ds:uri="http://schemas.microsoft.com/office/2006/metadata/properties"/>
    <ds:schemaRef ds:uri="http://schemas.microsoft.com/office/infopath/2007/PartnerControls"/>
    <ds:schemaRef ds:uri="df20de4e-4892-4869-a652-a7c915abf32f"/>
    <ds:schemaRef ds:uri="27abfcf4-a53b-45ec-9541-9b00a41a0f09"/>
  </ds:schemaRefs>
</ds:datastoreItem>
</file>

<file path=customXml/itemProps2.xml><?xml version="1.0" encoding="utf-8"?>
<ds:datastoreItem xmlns:ds="http://schemas.openxmlformats.org/officeDocument/2006/customXml" ds:itemID="{66F29ED1-3FB4-4405-BC81-F02927D6ECE1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7A68C513-1B7F-4876-8705-CB5836876AC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27abfcf4-a53b-45ec-9541-9b00a41a0f09"/>
    <ds:schemaRef ds:uri="df20de4e-4892-4869-a652-a7c915abf32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23251</TotalTime>
  <Words>25</Words>
  <Application>Microsoft Office PowerPoint</Application>
  <PresentationFormat>Widescreen</PresentationFormat>
  <Paragraphs>11</Paragraphs>
  <Slides>1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Satoshi</vt:lpstr>
      <vt:lpstr>12_Tema do Office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Leticia Smirelli</dc:creator>
  <cp:lastModifiedBy>Felipe Silva</cp:lastModifiedBy>
  <cp:revision>38</cp:revision>
  <dcterms:created xsi:type="dcterms:W3CDTF">2021-05-19T02:42:19Z</dcterms:created>
  <dcterms:modified xsi:type="dcterms:W3CDTF">2026-03-04T22:11:10Z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0x0101004C36BFA3F7CA2244925E07107AC027F4</vt:lpwstr>
  </property>
  <property fmtid="{D5CDD505-2E9C-101B-9397-08002B2CF9AE}" pid="3" name="MediaServiceImageTags">
    <vt:lpwstr/>
  </property>
</Properties>
</file>